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96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1927860" y="2037080"/>
            <a:ext cx="3406775" cy="241300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240" y="1000760"/>
            <a:ext cx="4005580" cy="2336165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175" y="3677920"/>
            <a:ext cx="4017645" cy="2343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dirty="0" smtClean="0">
                <a:sym typeface="+mn-ea"/>
              </a:rPr>
              <a:t>История компании </a:t>
            </a:r>
            <a:r>
              <a:rPr lang="ru-RU" dirty="0">
                <a:sym typeface="+mn-ea"/>
              </a:rPr>
              <a:t>«Лемана Про»</a:t>
            </a:r>
            <a:r>
              <a:rPr lang="ru-RU" dirty="0" smtClean="0">
                <a:sym typeface="+mn-ea"/>
              </a:rPr>
              <a:t> </a:t>
            </a:r>
            <a:endParaRPr lang="ru-RU" altLang="en-US"/>
          </a:p>
        </p:txBody>
      </p:sp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711451" y="1690688"/>
            <a:ext cx="10515600" cy="4351338"/>
          </a:xfrm>
        </p:spPr>
        <p:txBody>
          <a:bodyPr/>
          <a:lstStyle/>
          <a:p>
            <a:r>
              <a:rPr lang="en-US" altLang="en-US" dirty="0"/>
              <a:t>«</a:t>
            </a:r>
            <a:r>
              <a:rPr lang="en-US" altLang="en-US" b="1" dirty="0"/>
              <a:t>Лемана</a:t>
            </a:r>
            <a:r>
              <a:rPr lang="en-US" altLang="ru-RU" b="1" dirty="0"/>
              <a:t> </a:t>
            </a:r>
            <a:r>
              <a:rPr lang="en-US" altLang="en-US" b="1" dirty="0"/>
              <a:t>ПРО</a:t>
            </a:r>
            <a:r>
              <a:rPr lang="en-US" altLang="en-US" dirty="0"/>
              <a:t>»</a:t>
            </a:r>
            <a:r>
              <a:rPr lang="en-US" altLang="ru-RU" dirty="0"/>
              <a:t> – </a:t>
            </a:r>
            <a:r>
              <a:rPr lang="en-US" altLang="en-US" dirty="0"/>
              <a:t>международная</a:t>
            </a:r>
            <a:r>
              <a:rPr lang="en-US" altLang="ru-RU" dirty="0"/>
              <a:t> </a:t>
            </a:r>
            <a:r>
              <a:rPr lang="en-US" altLang="en-US" dirty="0"/>
              <a:t>сеть</a:t>
            </a:r>
            <a:r>
              <a:rPr lang="en-US" altLang="ru-RU" dirty="0"/>
              <a:t> </a:t>
            </a:r>
            <a:r>
              <a:rPr lang="en-US" altLang="en-US" dirty="0"/>
              <a:t>гипермаркетов</a:t>
            </a:r>
            <a:r>
              <a:rPr lang="en-US" altLang="ru-RU" dirty="0"/>
              <a:t> </a:t>
            </a:r>
            <a:r>
              <a:rPr lang="en-US" altLang="en-US" dirty="0"/>
              <a:t>товаров</a:t>
            </a:r>
            <a:r>
              <a:rPr lang="en-US" altLang="ru-RU" dirty="0"/>
              <a:t> </a:t>
            </a:r>
            <a:r>
              <a:rPr lang="en-US" altLang="en-US" dirty="0"/>
              <a:t>для</a:t>
            </a:r>
            <a:r>
              <a:rPr lang="en-US" altLang="ru-RU" dirty="0"/>
              <a:t> </a:t>
            </a:r>
            <a:r>
              <a:rPr lang="en-US" altLang="en-US" dirty="0"/>
              <a:t>дома</a:t>
            </a:r>
            <a:r>
              <a:rPr lang="en-US" altLang="ru-RU" dirty="0"/>
              <a:t>, </a:t>
            </a:r>
            <a:r>
              <a:rPr lang="en-US" altLang="en-US" dirty="0"/>
              <a:t>дачи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ремонта</a:t>
            </a:r>
            <a:r>
              <a:rPr lang="en-US" altLang="ru-RU" dirty="0"/>
              <a:t>.</a:t>
            </a:r>
            <a:endParaRPr lang="en-US" altLang="ru-RU" dirty="0"/>
          </a:p>
          <a:p>
            <a:r>
              <a:rPr lang="en-US" altLang="en-US" dirty="0"/>
              <a:t>Владелец</a:t>
            </a:r>
            <a:r>
              <a:rPr lang="en-US" altLang="ru-RU" dirty="0"/>
              <a:t> – </a:t>
            </a:r>
            <a:r>
              <a:rPr lang="en-US" altLang="en-US" dirty="0"/>
              <a:t>французская</a:t>
            </a:r>
            <a:r>
              <a:rPr lang="en-US" altLang="ru-RU" dirty="0"/>
              <a:t> </a:t>
            </a:r>
            <a:r>
              <a:rPr lang="en-US" altLang="en-US" dirty="0"/>
              <a:t>частная</a:t>
            </a:r>
            <a:r>
              <a:rPr lang="en-US" altLang="ru-RU" dirty="0"/>
              <a:t> </a:t>
            </a:r>
            <a:r>
              <a:rPr lang="en-US" altLang="en-US" dirty="0"/>
              <a:t>группа</a:t>
            </a:r>
            <a:r>
              <a:rPr lang="en-US" altLang="ru-RU" dirty="0"/>
              <a:t> ADEO, </a:t>
            </a:r>
            <a:r>
              <a:rPr lang="en-US" altLang="en-US" dirty="0"/>
              <a:t>которой</a:t>
            </a:r>
            <a:r>
              <a:rPr lang="en-US" altLang="ru-RU" dirty="0"/>
              <a:t> </a:t>
            </a:r>
            <a:r>
              <a:rPr lang="en-US" altLang="en-US" dirty="0"/>
              <a:t>владеет</a:t>
            </a:r>
            <a:r>
              <a:rPr lang="en-US" altLang="ru-RU" dirty="0"/>
              <a:t> </a:t>
            </a:r>
            <a:r>
              <a:rPr lang="en-US" altLang="en-US" dirty="0"/>
              <a:t>семья</a:t>
            </a:r>
            <a:r>
              <a:rPr lang="en-US" altLang="ru-RU" dirty="0"/>
              <a:t>-</a:t>
            </a:r>
            <a:r>
              <a:rPr lang="en-US" altLang="en-US" dirty="0"/>
              <a:t>основатель</a:t>
            </a:r>
            <a:r>
              <a:rPr lang="en-US" altLang="ru-RU" dirty="0"/>
              <a:t> </a:t>
            </a:r>
            <a:r>
              <a:rPr lang="en-US" altLang="en-US" dirty="0"/>
              <a:t>Мюлье</a:t>
            </a:r>
            <a:r>
              <a:rPr lang="en-US" altLang="ru-RU" dirty="0"/>
              <a:t> (Mulliez).</a:t>
            </a:r>
            <a:endParaRPr lang="en-US" altLang="ru-RU" dirty="0"/>
          </a:p>
          <a:p>
            <a:r>
              <a:rPr lang="en-US" altLang="en-US" dirty="0"/>
              <a:t>На</a:t>
            </a:r>
            <a:r>
              <a:rPr lang="en-US" altLang="ru-RU" dirty="0"/>
              <a:t> </a:t>
            </a:r>
            <a:r>
              <a:rPr lang="en-US" altLang="en-US" dirty="0"/>
              <a:t>российском</a:t>
            </a:r>
            <a:r>
              <a:rPr lang="en-US" altLang="ru-RU" dirty="0"/>
              <a:t> </a:t>
            </a:r>
            <a:r>
              <a:rPr lang="en-US" altLang="en-US" dirty="0"/>
              <a:t>рынке</a:t>
            </a:r>
            <a:r>
              <a:rPr lang="en-US" altLang="ru-RU" dirty="0"/>
              <a:t> </a:t>
            </a:r>
            <a:r>
              <a:rPr lang="en-US" altLang="en-US" dirty="0"/>
              <a:t>работает</a:t>
            </a:r>
            <a:r>
              <a:rPr lang="en-US" altLang="ru-RU" dirty="0"/>
              <a:t> </a:t>
            </a:r>
            <a:r>
              <a:rPr lang="en-US" altLang="en-US" dirty="0"/>
              <a:t>с</a:t>
            </a:r>
            <a:r>
              <a:rPr lang="en-US" altLang="ru-RU" dirty="0"/>
              <a:t> 2004 </a:t>
            </a:r>
            <a:r>
              <a:rPr lang="en-US" altLang="en-US" dirty="0"/>
              <a:t>года</a:t>
            </a:r>
            <a:r>
              <a:rPr lang="en-US" altLang="ru-RU" b="1" dirty="0"/>
              <a:t>.</a:t>
            </a:r>
            <a:br>
              <a:rPr lang="en-US" altLang="ru-RU" b="1" dirty="0"/>
            </a:br>
            <a:r>
              <a:rPr lang="ru-RU" altLang="en-US" b="1" dirty="0"/>
              <a:t>112</a:t>
            </a:r>
            <a:r>
              <a:rPr lang="ru-RU" b="1" dirty="0"/>
              <a:t> магазина в России</a:t>
            </a:r>
            <a:r>
              <a:rPr lang="ru-RU" dirty="0"/>
              <a:t> - </a:t>
            </a:r>
            <a:r>
              <a:rPr lang="en-US" altLang="en-US" dirty="0"/>
              <a:t>от</a:t>
            </a:r>
            <a:r>
              <a:rPr lang="en-US" altLang="ru-RU" dirty="0"/>
              <a:t> </a:t>
            </a:r>
            <a:r>
              <a:rPr lang="en-US" altLang="en-US" dirty="0"/>
              <a:t>Калининграда</a:t>
            </a:r>
            <a:r>
              <a:rPr lang="en-US" altLang="ru-RU" dirty="0"/>
              <a:t> </a:t>
            </a:r>
            <a:r>
              <a:rPr lang="en-US" altLang="en-US" dirty="0"/>
              <a:t>до</a:t>
            </a:r>
            <a:r>
              <a:rPr lang="en-US" altLang="ru-RU" dirty="0"/>
              <a:t> </a:t>
            </a:r>
            <a:r>
              <a:rPr lang="en-US" altLang="en-US" dirty="0"/>
              <a:t>Хабаровска</a:t>
            </a:r>
            <a:r>
              <a:rPr lang="ru-RU" dirty="0"/>
              <a:t>.</a:t>
            </a:r>
            <a:endParaRPr lang="ru-RU" dirty="0"/>
          </a:p>
          <a:p>
            <a:r>
              <a:rPr lang="ru-RU" dirty="0"/>
              <a:t>Площадь магазинов от </a:t>
            </a:r>
            <a:r>
              <a:rPr lang="en-US" altLang="en-US" b="1" dirty="0" smtClean="0"/>
              <a:t>от</a:t>
            </a:r>
            <a:r>
              <a:rPr lang="en-US" altLang="ru-RU" b="1" dirty="0" smtClean="0"/>
              <a:t> 8 000 </a:t>
            </a:r>
            <a:r>
              <a:rPr lang="en-US" altLang="en-US" b="1" dirty="0" smtClean="0"/>
              <a:t>до</a:t>
            </a:r>
            <a:r>
              <a:rPr lang="en-US" altLang="ru-RU" b="1" dirty="0" smtClean="0"/>
              <a:t> 15 000 </a:t>
            </a:r>
            <a:r>
              <a:rPr lang="en-US" altLang="en-US" b="1" dirty="0" smtClean="0"/>
              <a:t>кв</a:t>
            </a:r>
            <a:r>
              <a:rPr lang="en-US" altLang="ru-RU" b="1" dirty="0" smtClean="0"/>
              <a:t>.</a:t>
            </a:r>
            <a:r>
              <a:rPr lang="en-US" altLang="en-US" b="1" dirty="0" smtClean="0"/>
              <a:t>м</a:t>
            </a:r>
            <a:r>
              <a:rPr lang="en-US" altLang="ru-RU" b="1" dirty="0" smtClean="0"/>
              <a:t>.</a:t>
            </a:r>
            <a:r>
              <a:rPr lang="ru-RU" b="1" dirty="0" smtClean="0"/>
              <a:t> </a:t>
            </a:r>
            <a:endParaRPr lang="ru-RU" dirty="0"/>
          </a:p>
          <a:p>
            <a:endParaRPr lang="ru-RU" dirty="0"/>
          </a:p>
        </p:txBody>
      </p:sp>
      <p:pic>
        <p:nvPicPr>
          <p:cNvPr id="48" name="Изображение 4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6204585"/>
            <a:ext cx="932180" cy="6534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527685" y="227965"/>
            <a:ext cx="11290935" cy="174307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Мы </a:t>
            </a:r>
            <a:r>
              <a:rPr lang="en-US" altLang="en-US" dirty="0"/>
              <a:t>предлагае</a:t>
            </a:r>
            <a:r>
              <a:rPr lang="ru-RU" altLang="en-US" dirty="0"/>
              <a:t>м</a:t>
            </a:r>
            <a:r>
              <a:rPr lang="en-US" altLang="ru-RU" dirty="0"/>
              <a:t> </a:t>
            </a:r>
            <a:r>
              <a:rPr lang="en-US" altLang="en-US" dirty="0"/>
              <a:t>широкий</a:t>
            </a:r>
            <a:r>
              <a:rPr lang="en-US" altLang="ru-RU" dirty="0"/>
              <a:t> </a:t>
            </a:r>
            <a:r>
              <a:rPr lang="en-US" altLang="en-US" dirty="0"/>
              <a:t>ассортимент</a:t>
            </a:r>
            <a:r>
              <a:rPr lang="en-US" altLang="ru-RU" dirty="0"/>
              <a:t> </a:t>
            </a:r>
            <a:r>
              <a:rPr lang="en-US" altLang="en-US" dirty="0"/>
              <a:t>товаров</a:t>
            </a:r>
            <a:r>
              <a:rPr lang="en-US" altLang="ru-RU" dirty="0"/>
              <a:t> </a:t>
            </a:r>
            <a:r>
              <a:rPr lang="en-US" altLang="en-US" dirty="0"/>
              <a:t>для</a:t>
            </a:r>
            <a:r>
              <a:rPr lang="en-US" altLang="ru-RU" dirty="0"/>
              <a:t> </a:t>
            </a:r>
            <a:r>
              <a:rPr lang="en-US" altLang="en-US" dirty="0"/>
              <a:t>строительно</a:t>
            </a:r>
            <a:r>
              <a:rPr lang="en-US" altLang="ru-RU" dirty="0"/>
              <a:t>-</a:t>
            </a:r>
            <a:r>
              <a:rPr lang="en-US" altLang="en-US" dirty="0"/>
              <a:t>ремонтных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отделочных</a:t>
            </a:r>
            <a:r>
              <a:rPr lang="en-US" altLang="ru-RU" dirty="0"/>
              <a:t> </a:t>
            </a:r>
            <a:r>
              <a:rPr lang="en-US" altLang="en-US" dirty="0"/>
              <a:t>работ</a:t>
            </a:r>
            <a:r>
              <a:rPr lang="en-US" altLang="ru-RU" dirty="0"/>
              <a:t>, </a:t>
            </a:r>
            <a:r>
              <a:rPr lang="en-US" altLang="en-US" dirty="0"/>
              <a:t>а</a:t>
            </a:r>
            <a:r>
              <a:rPr lang="en-US" altLang="ru-RU" dirty="0"/>
              <a:t> </a:t>
            </a:r>
            <a:r>
              <a:rPr lang="en-US" altLang="en-US" dirty="0"/>
              <a:t>также</a:t>
            </a:r>
            <a:r>
              <a:rPr lang="en-US" altLang="ru-RU" dirty="0"/>
              <a:t> </a:t>
            </a:r>
            <a:r>
              <a:rPr lang="en-US" altLang="en-US" dirty="0"/>
              <a:t>для</a:t>
            </a:r>
            <a:r>
              <a:rPr lang="en-US" altLang="ru-RU" dirty="0"/>
              <a:t> </a:t>
            </a:r>
            <a:r>
              <a:rPr lang="en-US" altLang="en-US" dirty="0"/>
              <a:t>сада</a:t>
            </a:r>
            <a:r>
              <a:rPr lang="en-US" altLang="ru-RU" dirty="0"/>
              <a:t>.</a:t>
            </a:r>
            <a:endParaRPr lang="en-US" altLang="ru-RU" dirty="0"/>
          </a:p>
        </p:txBody>
      </p:sp>
      <p:sp>
        <p:nvSpPr>
          <p:cNvPr id="7" name="Объект 2"/>
          <p:cNvSpPr>
            <a:spLocks noGrp="1"/>
          </p:cNvSpPr>
          <p:nvPr>
            <p:ph idx="1"/>
          </p:nvPr>
        </p:nvSpPr>
        <p:spPr>
          <a:xfrm>
            <a:off x="735965" y="1879841"/>
            <a:ext cx="10515600" cy="4978478"/>
          </a:xfrm>
        </p:spPr>
        <p:txBody>
          <a:bodyPr/>
          <a:lstStyle/>
          <a:p>
            <a:r>
              <a:rPr lang="ru-RU" sz="2000" b="1" dirty="0" smtClean="0">
                <a:solidFill>
                  <a:schemeClr val="tx1"/>
                </a:solidFill>
              </a:rPr>
              <a:t>Вид деятельности </a:t>
            </a:r>
            <a:r>
              <a:rPr lang="ru-RU" sz="2000" dirty="0" smtClean="0"/>
              <a:t>- </a:t>
            </a:r>
            <a:r>
              <a:rPr lang="en-US" altLang="en-US" sz="2000" dirty="0" smtClean="0"/>
              <a:t>Вид</a:t>
            </a:r>
            <a:r>
              <a:rPr lang="en-US" altLang="ru-RU" sz="2000" dirty="0" smtClean="0"/>
              <a:t> </a:t>
            </a:r>
            <a:r>
              <a:rPr lang="en-US" altLang="en-US" sz="2000" dirty="0" smtClean="0"/>
              <a:t>деятельности</a:t>
            </a:r>
            <a:r>
              <a:rPr lang="en-US" altLang="ru-RU" sz="2000" dirty="0" smtClean="0"/>
              <a:t> — 46.61 </a:t>
            </a:r>
            <a:r>
              <a:rPr lang="en-US" altLang="en-US" sz="2000" dirty="0" smtClean="0"/>
              <a:t>Торговля</a:t>
            </a:r>
            <a:r>
              <a:rPr lang="en-US" altLang="ru-RU" sz="2000" dirty="0" smtClean="0"/>
              <a:t> </a:t>
            </a:r>
            <a:r>
              <a:rPr lang="en-US" altLang="en-US" sz="2000" dirty="0" smtClean="0"/>
              <a:t>оптовая</a:t>
            </a:r>
            <a:r>
              <a:rPr lang="en-US" altLang="ru-RU" sz="2000" dirty="0" smtClean="0"/>
              <a:t> </a:t>
            </a:r>
            <a:r>
              <a:rPr lang="en-US" altLang="en-US" sz="2000" dirty="0" smtClean="0"/>
              <a:t>машинами</a:t>
            </a:r>
            <a:r>
              <a:rPr lang="en-US" altLang="ru-RU" sz="2000" dirty="0" smtClean="0"/>
              <a:t>, </a:t>
            </a:r>
            <a:r>
              <a:rPr lang="en-US" altLang="en-US" sz="2000" dirty="0" smtClean="0"/>
              <a:t>оборудованием</a:t>
            </a:r>
            <a:r>
              <a:rPr lang="en-US" altLang="ru-RU" sz="2000" dirty="0" smtClean="0"/>
              <a:t> </a:t>
            </a:r>
            <a:r>
              <a:rPr lang="en-US" altLang="en-US" sz="2000" dirty="0" smtClean="0"/>
              <a:t>и</a:t>
            </a:r>
            <a:r>
              <a:rPr lang="en-US" altLang="ru-RU" sz="2000" dirty="0" smtClean="0"/>
              <a:t> </a:t>
            </a:r>
            <a:r>
              <a:rPr lang="en-US" altLang="en-US" sz="2000" dirty="0" smtClean="0"/>
              <a:t>инструментами</a:t>
            </a:r>
            <a:r>
              <a:rPr lang="en-US" altLang="ru-RU" sz="2000" dirty="0" smtClean="0"/>
              <a:t>; 46.69 </a:t>
            </a:r>
            <a:r>
              <a:rPr lang="en-US" altLang="en-US" sz="2000" dirty="0" smtClean="0"/>
              <a:t>Торговля</a:t>
            </a:r>
            <a:r>
              <a:rPr lang="en-US" altLang="ru-RU" sz="2000" dirty="0" smtClean="0"/>
              <a:t> </a:t>
            </a:r>
            <a:r>
              <a:rPr lang="en-US" altLang="en-US" sz="2000" dirty="0" smtClean="0"/>
              <a:t>оптовая</a:t>
            </a:r>
            <a:r>
              <a:rPr lang="en-US" altLang="ru-RU" sz="2000" dirty="0" smtClean="0"/>
              <a:t> </a:t>
            </a:r>
            <a:r>
              <a:rPr lang="en-US" altLang="en-US" sz="2000" dirty="0" smtClean="0"/>
              <a:t>прочими</a:t>
            </a:r>
            <a:r>
              <a:rPr lang="en-US" altLang="ru-RU" sz="2000" dirty="0" smtClean="0"/>
              <a:t> </a:t>
            </a:r>
            <a:r>
              <a:rPr lang="en-US" altLang="en-US" sz="2000" dirty="0" smtClean="0"/>
              <a:t>машинами</a:t>
            </a:r>
            <a:r>
              <a:rPr lang="en-US" altLang="ru-RU" sz="2000" dirty="0" smtClean="0"/>
              <a:t> </a:t>
            </a:r>
            <a:r>
              <a:rPr lang="en-US" altLang="en-US" sz="2000" dirty="0" smtClean="0"/>
              <a:t>и</a:t>
            </a:r>
            <a:r>
              <a:rPr lang="en-US" altLang="ru-RU" sz="2000" dirty="0" smtClean="0"/>
              <a:t> </a:t>
            </a:r>
            <a:r>
              <a:rPr lang="en-US" altLang="en-US" sz="2000" dirty="0" smtClean="0"/>
              <a:t>оборудованием</a:t>
            </a:r>
            <a:r>
              <a:rPr lang="en-US" altLang="ru-RU" sz="2000" dirty="0" smtClean="0"/>
              <a:t>.</a:t>
            </a:r>
            <a:br>
              <a:rPr lang="en-US" altLang="ru-RU" sz="2000" dirty="0" smtClean="0"/>
            </a:br>
            <a:r>
              <a:rPr lang="ru-RU" sz="2000" dirty="0" smtClean="0"/>
              <a:t>   Наш ассортимент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48" name="Изображение 4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6204585"/>
            <a:ext cx="932180" cy="653415"/>
          </a:xfrm>
          <a:prstGeom prst="rect">
            <a:avLst/>
          </a:prstGeom>
        </p:spPr>
      </p:pic>
      <p:pic>
        <p:nvPicPr>
          <p:cNvPr id="49" name="Изображение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90" y="2828925"/>
            <a:ext cx="9597390" cy="37249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5337" y="365125"/>
            <a:ext cx="10365419" cy="1325563"/>
          </a:xfrm>
        </p:spPr>
        <p:txBody>
          <a:bodyPr/>
          <a:lstStyle/>
          <a:p>
            <a:r>
              <a:rPr lang="ru-RU" dirty="0" smtClean="0"/>
              <a:t>Наши партнеры  и поставщики</a:t>
            </a:r>
            <a:endParaRPr lang="ru-RU" dirty="0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871855" y="1418907"/>
            <a:ext cx="5080000" cy="504634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СтройТехСнаб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дилер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в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ЦФО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ТехноСила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сервисный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партнер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в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Сибири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Промышленные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Решения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дистрибьютор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на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Урале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АгроТехника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-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Юг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партнер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в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сельхозрегионах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СпецМаш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дилер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спецтехники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в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Поволжье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ЛогистикКомплект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партнер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по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складской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технике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ТехноГарант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авторизованный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сервисный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центр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СибМашТрейд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дилер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в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Дальневосточном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регионе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СтройЛогистика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партнер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по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строительной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технике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ЭнергоСнаб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дистрибьютор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генераторов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ПромИнвест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партнер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по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комплексным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поставкам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ТехноАльянс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региональный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дистрибьютор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5399405" y="1418907"/>
            <a:ext cx="5080000" cy="504634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Heli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вилочные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погрузчики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XCMG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строительная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и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дорожная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техника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Shantui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бульдозеры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,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погрузчики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Lonking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погрузчики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,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экскаваторы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SDLG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строительная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техника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Weichai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дизельные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двигатели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Generac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генераторные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установки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KOSHIN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насосное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оборудование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Hyundai Heavy Industries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строительная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техника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Doosan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погрузчики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,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экскаваторы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Cummins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двигатели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,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генераторы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Zoomlion (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строительная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и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подъемная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 </a:t>
            </a:r>
            <a:r>
              <a:rPr lang="en-US" altLang="en-US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техника</a:t>
            </a:r>
            <a:r>
              <a:rPr lang="en-US" altLang="ru-RU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)</a:t>
            </a:r>
            <a:endParaRPr lang="en-US" altLang="ru-RU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pic>
        <p:nvPicPr>
          <p:cNvPr id="48" name="Изображение 4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6204585"/>
            <a:ext cx="932180" cy="6534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12275" y="202162"/>
            <a:ext cx="10515600" cy="1325563"/>
          </a:xfrm>
        </p:spPr>
        <p:txBody>
          <a:bodyPr/>
          <a:lstStyle/>
          <a:p>
            <a:r>
              <a:rPr lang="ru-RU" dirty="0" smtClean="0"/>
              <a:t>Преимущества работы с </a:t>
            </a:r>
            <a:r>
              <a:rPr lang="ru-RU" dirty="0"/>
              <a:t>«</a:t>
            </a:r>
            <a:r>
              <a:rPr lang="en-US" altLang="ru-RU" dirty="0"/>
              <a:t>lemana pro</a:t>
            </a:r>
            <a:r>
              <a:rPr lang="ru-RU" dirty="0"/>
              <a:t>»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349" y="2215190"/>
            <a:ext cx="3731075" cy="3145809"/>
          </a:xfrm>
          <a:prstGeom prst="rect">
            <a:avLst/>
          </a:prstGeom>
        </p:spPr>
      </p:pic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6518758" y="1731805"/>
            <a:ext cx="4509117" cy="4351338"/>
          </a:xfrm>
        </p:spPr>
        <p:txBody>
          <a:bodyPr>
            <a:normAutofit/>
          </a:bodyPr>
          <a:lstStyle/>
          <a:p>
            <a:pPr marL="0" indent="0">
              <a:buClr>
                <a:schemeClr val="accent6">
                  <a:lumMod val="75000"/>
                </a:schemeClr>
              </a:buClr>
              <a:buNone/>
            </a:pPr>
            <a:endParaRPr lang="ru-RU" dirty="0" smtClean="0"/>
          </a:p>
          <a:p>
            <a:pPr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ru-RU" sz="2000" dirty="0" smtClean="0"/>
              <a:t>Поможем с выбором – ваш персональный менеджер Лев поможет в подборе нужного ассортимента, подберет лучшие предложение для вас, оперативно решит любой вопрос.</a:t>
            </a:r>
            <a:endParaRPr lang="ru-RU" sz="2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158240" y="4975225"/>
            <a:ext cx="2096135" cy="1784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pic>
        <p:nvPicPr>
          <p:cNvPr id="48" name="Изображение 47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6204585"/>
            <a:ext cx="932180" cy="6534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76038" y="384687"/>
          <a:ext cx="11666773" cy="3032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388"/>
                <a:gridCol w="1379989"/>
                <a:gridCol w="3205356"/>
                <a:gridCol w="2266220"/>
                <a:gridCol w="2266797"/>
                <a:gridCol w="1740023"/>
              </a:tblGrid>
              <a:tr h="251694"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Артикул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Характеристика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Преимущество 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Выгода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УТП/</a:t>
                      </a:r>
                      <a:r>
                        <a:rPr lang="ru-RU" sz="11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Спецпредложение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2470803">
                <a:tc>
                  <a:txBody>
                    <a:bodyPr/>
                    <a:lstStyle/>
                    <a:p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89433619</a:t>
                      </a:r>
                      <a:endParaRPr lang="en-US" alt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Ламинат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KREAFORTA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Сосна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Оттава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33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толщина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8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мм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фаской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1.99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м²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износостойкости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33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Толщина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фасок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Влагостойкость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Антистатический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Да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Тип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монтажа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Собирается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рядами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Ширина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19.3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Длина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129.2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упаковке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м²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1.99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плашек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упаковке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Основной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материал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ХДФ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пожарной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безопасности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российский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стандарт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КМ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ru-RU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Тип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поверхности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Натуральное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дерево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износостойкость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33)</a:t>
                      </a:r>
                      <a:endParaRPr lang="en-US" alt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Совместимость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тёплым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полом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Натуралистичный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внешний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вид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Долгосрочная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гарантия</a:t>
                      </a:r>
                      <a:r>
                        <a:rPr lang="ru-RU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- 20 лет</a:t>
                      </a:r>
                      <a:endParaRPr lang="ru-RU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Простота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монтажа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Широкая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сфера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применения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Выгодная цена!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Мы предлагаем оптимальные цены на все группы товаров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Гарантия качества! Работаем только с надежными и проверенными производителями, вся продукция сертифицирована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Онлайн оплата! Гарантируем безопасную онлайн оплату.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Оплата частями, Без % ! .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Этот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товар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имеет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бесплатную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расширенную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гарантию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лет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Благодаря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увеличенному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периоду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бесплатного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сервисного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обслуживания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продлеваете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срок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службы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товара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экономите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покупке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нового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случае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поломки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снижаете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влияние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окружающую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среду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US" alt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255" y="3429000"/>
            <a:ext cx="6383655" cy="31769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5" y="3312795"/>
            <a:ext cx="6409055" cy="3383280"/>
          </a:xfrm>
          <a:prstGeom prst="rect">
            <a:avLst/>
          </a:prstGeom>
        </p:spPr>
      </p:pic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76038" y="384687"/>
          <a:ext cx="11666773" cy="3032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388"/>
                <a:gridCol w="1379989"/>
                <a:gridCol w="3205356"/>
                <a:gridCol w="2266220"/>
                <a:gridCol w="2266797"/>
                <a:gridCol w="1740023"/>
              </a:tblGrid>
              <a:tr h="251694"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Артикул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Характеристика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Преимущество 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Выгода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УТП/</a:t>
                      </a:r>
                      <a:r>
                        <a:rPr lang="ru-RU" sz="11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Спецпредложение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2470803">
                <a:tc>
                  <a:txBody>
                    <a:bodyPr/>
                    <a:lstStyle/>
                    <a:p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89435049</a:t>
                      </a:r>
                      <a:endParaRPr lang="en-US" alt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SPC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плитка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Craft Floor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Дуб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Сардиния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42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толщина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4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мм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2.16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м²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износостойкости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Влагостойкость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Да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пожарной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безопасности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российский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стандарт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КМ2</a:t>
                      </a:r>
                      <a:endParaRPr lang="ru-RU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Тип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укладки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Замковое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соединени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</a:t>
                      </a:r>
                      <a:endParaRPr lang="ru-RU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Тип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продукта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Напольная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плитка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SPC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Вес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17.1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Ширина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Длина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Толщина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защитного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слоя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Общая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толщина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Совместим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системой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Теплый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Да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износостойкость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33)</a:t>
                      </a:r>
                      <a:endParaRPr lang="en-US" alt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Совместимость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тёплым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полом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Натуралистичный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внешний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вид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Долгосрочная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гарантия</a:t>
                      </a:r>
                      <a:r>
                        <a:rPr lang="ru-RU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- 20 лет</a:t>
                      </a:r>
                      <a:endParaRPr lang="ru-RU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Простота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монтажа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Широкая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сфера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применения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Выгодная цена!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Мы предлагаем оптимальные цены на все группы товаров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Гарантия качества! Работаем только с надежными и проверенными производителями, вся продукция сертифицирована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Онлайн оплата! Гарантируем безопасную онлайн оплату.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Оплата частями, Без % ! .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Этот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товар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имеет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бесплатную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расширенную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гарантию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лет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Благодаря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увеличенному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периоду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бесплатного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сервисного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обслуживания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продлеваете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срок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службы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товара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экономите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покупке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нового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случае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поломки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снижаете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влияние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окружающую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среду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US" alt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76038" y="384687"/>
          <a:ext cx="11666773" cy="3032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388"/>
                <a:gridCol w="1379989"/>
                <a:gridCol w="3205356"/>
                <a:gridCol w="2266220"/>
                <a:gridCol w="2266797"/>
                <a:gridCol w="1740023"/>
              </a:tblGrid>
              <a:tr h="251694"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Артикул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Характеристика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Преимущество 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Выгода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УТП/</a:t>
                      </a:r>
                      <a:r>
                        <a:rPr lang="ru-RU" sz="11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Спецпредложение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2470803">
                <a:tc>
                  <a:txBody>
                    <a:bodyPr/>
                    <a:lstStyle/>
                    <a:p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85999876</a:t>
                      </a:r>
                      <a:endParaRPr lang="en-US" alt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Ламинат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«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Дуб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ульвар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»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33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толщина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8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мм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фаской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2.153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м²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износостойкости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33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Толщина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фасок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Влагостойкость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Да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Антистатический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Да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Тип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монтажа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Собирается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рядами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Ширина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19.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Длина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упаковке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м²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2.153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плашек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упаковке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Основной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материал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ХДФ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пожарной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безопасности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российский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стандарт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КМ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ru-RU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Тип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поверхности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Серый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износостойкость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33)</a:t>
                      </a:r>
                      <a:endParaRPr lang="en-US" alt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Совместимость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тёплым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полом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Эстетичный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внешний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вид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Натуралистичный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внешний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вид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Долгосрочная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гарантия</a:t>
                      </a:r>
                      <a:r>
                        <a:rPr lang="ru-RU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- 20 лет</a:t>
                      </a:r>
                      <a:endParaRPr lang="ru-RU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Простота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монтажа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Широкая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сфера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применения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Выгодная цена!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Мы предлагаем оптимальные цены на все группы товаров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Гарантия качества! Работаем только с надежными и проверенными производителями, вся продукция сертифицирована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Онлайн оплата! Гарантируем безопасную онлайн оплату.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Оплата частями, Без % ! .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Этот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товар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имеет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бесплатную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расширенную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гарантию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лет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Благодаря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увеличенному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периоду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бесплатного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сервисного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обслуживания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продлеваете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срок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службы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товара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экономите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покупке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нового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случае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поломки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снижаете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влияние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окружающую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среду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US" alt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90" y="3480435"/>
            <a:ext cx="5598795" cy="29216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76038" y="384687"/>
          <a:ext cx="11666773" cy="3032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388"/>
                <a:gridCol w="1379989"/>
                <a:gridCol w="3205356"/>
                <a:gridCol w="2266220"/>
                <a:gridCol w="2266797"/>
                <a:gridCol w="1740023"/>
              </a:tblGrid>
              <a:tr h="251694"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Артикул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Характеристика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Преимущество 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Выгода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УТП/</a:t>
                      </a:r>
                      <a:r>
                        <a:rPr lang="ru-RU" sz="11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Спецпредложение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2470803">
                <a:tc>
                  <a:txBody>
                    <a:bodyPr/>
                    <a:lstStyle/>
                    <a:p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90858815</a:t>
                      </a:r>
                      <a:endParaRPr lang="en-US" alt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Паркетная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доска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LM floor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Дуб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Коньяк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1-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полосная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23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толщина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13.5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мм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фаской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0.92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м²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износостойкости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Порода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древесины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Дуб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Тип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древесины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Шпонированный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деревом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Толщина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защитного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слоя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упаковке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м²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0.92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плашек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упаковке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Селекция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верхнего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слоя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Rustic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полос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фасок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Вес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8.2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Толщина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13.3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Ширина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12.5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Длина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Основа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Фанера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Натуральность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экологичность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Долговечность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прочность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Тепло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звукоизоляция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Эстетика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престиж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Ремонтопригодность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alt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Выгодная цена!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Мы предлагаем оптимальные цены на все группы товаров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Гарантия качества! Работаем только с надежными и проверенными производителями, вся продукция сертифицирована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Онлайн оплата! Гарантируем безопасную онлайн оплату.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Оплата частями, Без % ! .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Этот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товар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имеет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бесплатную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расширенную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гарантию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лет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Благодаря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увеличенному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периоду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бесплатного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сервисного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обслуживания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продлеваете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срок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службы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товара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экономите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покупке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нового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случае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поломки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снижаете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влияние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окружающую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среду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US" alt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" y="3266440"/>
            <a:ext cx="5753735" cy="32670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895" y="3486785"/>
            <a:ext cx="6077585" cy="2969260"/>
          </a:xfrm>
          <a:prstGeom prst="rect">
            <a:avLst/>
          </a:prstGeom>
        </p:spPr>
      </p:pic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76038" y="384687"/>
          <a:ext cx="11666773" cy="3032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8388"/>
                <a:gridCol w="1379989"/>
                <a:gridCol w="3205356"/>
                <a:gridCol w="2266220"/>
                <a:gridCol w="2266797"/>
                <a:gridCol w="1740023"/>
              </a:tblGrid>
              <a:tr h="251694"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Артикул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Характеристика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Преимущество 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Выгода 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УТП/</a:t>
                      </a:r>
                      <a:r>
                        <a:rPr lang="ru-RU" sz="11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Спецпредложение</a:t>
                      </a:r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2470803">
                <a:tc>
                  <a:txBody>
                    <a:bodyPr/>
                    <a:lstStyle/>
                    <a:p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89369032</a:t>
                      </a:r>
                      <a:endParaRPr lang="en-US" alt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Линолеум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«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Дуб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Клайд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»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32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3.5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износостойкости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Для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ванной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комнаты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Да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Тип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линолеума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Полукоммерческий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Материал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основы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Полиэстер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Толщина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защитного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слоя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Общая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толщина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Ширина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рулона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Вес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2.062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Общий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вес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м²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Рисунок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Дерево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Совместим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теплым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полом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максимум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28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°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C)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Да</a:t>
                      </a:r>
                      <a:endParaRPr lang="en-US" altLang="en-US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Класс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пожарной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безопасности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российский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стандарт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ru-RU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</a:t>
                      </a:r>
                      <a:r>
                        <a:rPr lang="en-US" altLang="en-US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КМ</a:t>
                      </a:r>
                      <a:r>
                        <a:rPr lang="en-US" alt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alt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Высокая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износостойкость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долговечность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Простота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уходе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гигиеничность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Влагостойкость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практичность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Широкий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выбор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дизайнов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доступная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цена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Удобство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укладки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ремонта</a:t>
                      </a:r>
                      <a:endParaRPr lang="en-US" alt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Выгодная цена!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Мы предлагаем оптимальные цены на все группы товаров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Гарантия качества! Работаем только с надежными и проверенными производителями, вся продукция сертифицирована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Онлайн оплата! Гарантируем безопасную онлайн оплату.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1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Оплата частями, Без % ! .</a:t>
                      </a:r>
                      <a:endParaRPr lang="ru-RU" sz="11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Этот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товар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имеет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бесплатную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расширенную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гарантию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лет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Благодаря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увеличенному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периоду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бесплатного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сервисного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обслуживания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продлеваете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срок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службы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товара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экономите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покупке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нового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случае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поломки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снижаете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влияние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окружающую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среду</a:t>
                      </a:r>
                      <a:r>
                        <a:rPr lang="en-US" altLang="ru-RU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US" altLang="ru-RU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52000" y="496900"/>
            <a:ext cx="10515600" cy="906712"/>
          </a:xfrm>
        </p:spPr>
        <p:txBody>
          <a:bodyPr>
            <a:normAutofit fontScale="90000"/>
          </a:bodyPr>
          <a:lstStyle/>
          <a:p>
            <a:br>
              <a:rPr lang="ru-RU" dirty="0"/>
            </a:br>
            <a:r>
              <a:rPr lang="ru-RU" dirty="0" smtClean="0"/>
              <a:t>Также можем предложить!</a:t>
            </a:r>
            <a:endParaRPr lang="ru-RU" dirty="0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775" y="1960880"/>
            <a:ext cx="3263265" cy="423164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245" y="1960880"/>
            <a:ext cx="3059430" cy="4247515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065" y="1943100"/>
            <a:ext cx="3359150" cy="42087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2"/>
          <p:cNvSpPr txBox="1"/>
          <p:nvPr/>
        </p:nvSpPr>
        <p:spPr>
          <a:xfrm>
            <a:off x="1145220" y="4545366"/>
            <a:ext cx="6081204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Ваш личный менеджер по продажам:</a:t>
            </a:r>
            <a:endParaRPr lang="ru-RU" dirty="0" smtClean="0"/>
          </a:p>
          <a:p>
            <a:r>
              <a:rPr lang="ru-RU" dirty="0" smtClean="0"/>
              <a:t>Ауль Лев </a:t>
            </a:r>
            <a:br>
              <a:rPr lang="ru-RU" dirty="0" smtClean="0"/>
            </a:br>
            <a:r>
              <a:rPr lang="ru-RU" dirty="0" smtClean="0"/>
              <a:t>Тел. 8-932-32-018-32</a:t>
            </a:r>
            <a:endParaRPr lang="ru-RU" dirty="0"/>
          </a:p>
        </p:txBody>
      </p:sp>
      <p:pic>
        <p:nvPicPr>
          <p:cNvPr id="48" name="Изображение 4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6204585"/>
            <a:ext cx="932180" cy="6534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7500</Words>
  <Application>WPS Presentation</Application>
  <PresentationFormat>宽屏</PresentationFormat>
  <Paragraphs>320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Calibri Light</vt:lpstr>
      <vt:lpstr>Times New Roman</vt:lpstr>
      <vt:lpstr>quote-cjk-patch</vt:lpstr>
      <vt:lpstr>Segoe Print</vt:lpstr>
      <vt:lpstr>Microsoft YaHei</vt:lpstr>
      <vt:lpstr>Arial Unicode MS</vt:lpstr>
      <vt:lpstr>Calibri</vt:lpstr>
      <vt:lpstr>Office Theme</vt:lpstr>
      <vt:lpstr>PowerPoint 演示文稿</vt:lpstr>
      <vt:lpstr>История компании «Лемана Про» </vt:lpstr>
      <vt:lpstr>Мы предлагаем широкий ассортимент товаров для строительно-ремонтных и отделочных работ, а также для сада.</vt:lpstr>
      <vt:lpstr>Наши партнеры  и поставщики</vt:lpstr>
      <vt:lpstr>Преимущества работы с «Rich Family»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Также можем предложить!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levau</cp:lastModifiedBy>
  <cp:revision>9</cp:revision>
  <dcterms:created xsi:type="dcterms:W3CDTF">2025-07-23T00:59:00Z</dcterms:created>
  <dcterms:modified xsi:type="dcterms:W3CDTF">2026-02-14T13:18:19Z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1049-12.2.0.23149</vt:lpwstr>
  </property>
  <property fmtid="{D5CDD505-2E9C-101B-9397-08002B2CF9AE}" pid="3" name="ICV">
    <vt:lpwstr>EB68AEC277354CB3872FF2FB725EB088_11</vt:lpwstr>
  </property>
</Properties>
</file>