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17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hyperlink" Target="https://www.similarweb.com/ru/website/lemanapro.ru/competitors/" TargetMode="Externa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1000108"/>
            <a:ext cx="7772400" cy="1470025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Б.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торгово-технологических процессов в розничном торговом предприятии и анализ основных экономических показателей его деятельности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57752" y="3786190"/>
            <a:ext cx="3757594" cy="1752600"/>
          </a:xfrm>
        </p:spPr>
        <p:txBody>
          <a:bodyPr/>
          <a:lstStyle/>
          <a:p>
            <a:r>
              <a:rPr lang="ru-RU" dirty="0" err="1">
                <a:solidFill>
                  <a:schemeClr val="tx1"/>
                </a:solidFill>
              </a:rPr>
              <a:t>Ауль</a:t>
            </a:r>
            <a:r>
              <a:rPr lang="ru-RU" dirty="0">
                <a:solidFill>
                  <a:schemeClr val="tx1"/>
                </a:solidFill>
              </a:rPr>
              <a:t> Лев №1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пояснительная записка</a:t>
            </a:r>
            <a:br>
              <a:rPr lang="ru-RU" dirty="0"/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магазина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Про»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«ЛЕ МОНДЛИД»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Строительный магазин «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Лемана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ПРО» располагается по адресу г. Омск, ул. 21-ая Амурская, 21/2.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Магазин «</a:t>
            </a:r>
            <a:r>
              <a:rPr lang="ru-RU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Лемана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ПРО» предлагает своим клиентам большой выбор качественных товаров, доступные цены и высокий уровень обслуживания.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Магазин осуществляет свою деятельность в соответствии с Национальными стандартами РФ: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ГОСТ Р 51304-2022 «Услуги торговли. Общие требования»;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ГОСТ Р 51773-2009 «Услуги торговли. Классификация предприятий торговли»;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ГОСТ Р 51303-2023 «Торговля. Термины и определения» и др.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1" y="196692"/>
            <a:ext cx="1495131" cy="95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ГОСТ Р 51773-2009. Услуги торговли. Классификация предприятий торговли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 формам собственности: частная ООО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dirty="0"/>
              <a:t> предприятие оптовой торговли</a:t>
            </a:r>
            <a:endParaRPr lang="ru-RU" sz="1400" dirty="0"/>
          </a:p>
          <a:p>
            <a:r>
              <a:rPr lang="ru-RU" sz="1400" dirty="0"/>
              <a:t>- по специализации торговой деятельности: универсальный</a:t>
            </a:r>
            <a:endParaRPr lang="ru-RU" sz="1400" dirty="0"/>
          </a:p>
          <a:p>
            <a:r>
              <a:rPr lang="ru-RU" sz="1400" dirty="0"/>
              <a:t> - по способу организации торговой деятельности: Сетевые (торговая сеть)</a:t>
            </a:r>
            <a:endParaRPr lang="ru-RU" sz="1400" dirty="0"/>
          </a:p>
          <a:p>
            <a:r>
              <a:rPr lang="ru-RU" sz="1400" dirty="0"/>
              <a:t>- по виду торгового объекта: Стационарные </a:t>
            </a:r>
            <a:endParaRPr lang="ru-RU" sz="1400" dirty="0"/>
          </a:p>
          <a:p>
            <a:endParaRPr lang="ru-RU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по формам торгового обслуживания покупателей:  </a:t>
            </a:r>
            <a:endParaRPr lang="ru-RU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ru-RU" sz="1400" dirty="0"/>
              <a:t>с полным самообслуживанием;</a:t>
            </a:r>
            <a:endParaRPr 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-с обслуживанием по предварительным заказам;</a:t>
            </a:r>
            <a:endParaRPr 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-с обслуживанием по образцам;</a:t>
            </a:r>
            <a:endParaRPr 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-торговля через сайт</a:t>
            </a:r>
            <a:endParaRPr 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- по условиям реализации товаров:  магазин </a:t>
            </a:r>
            <a:endParaRPr 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- по типам предприятий торговли:  гипермаркет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Лемана ПРО&quot; начала ребрендинг гипермаркетов в Омске - Рамблер/личные финансы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43504" y="2786058"/>
            <a:ext cx="3575025" cy="24288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1" y="196692"/>
            <a:ext cx="1495131" cy="95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-714412" y="14285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Конкуренты магазина «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Лемана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ПРО»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«ЛЕ МОНЛИД»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1" descr="C:\Users\2st20403\Downloads\2026-02-05_12-31-10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00306"/>
            <a:ext cx="9144000" cy="2913845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1000100" y="1357298"/>
            <a:ext cx="70723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>
                <a:hlinkClick r:id="rId2"/>
              </a:rPr>
              <a:t>www.similarweb.com/ru/website/lemanapro.ru/competitors</a:t>
            </a:r>
            <a:r>
              <a:rPr lang="en-US" dirty="0"/>
              <a:t>/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42844" y="1785926"/>
            <a:ext cx="8858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Основным конкурентом предприятия в г.Омск является  торговое предприятие</a:t>
            </a:r>
            <a:endParaRPr lang="ru-RU" dirty="0"/>
          </a:p>
          <a:p>
            <a:r>
              <a:rPr lang="ru-RU" dirty="0"/>
              <a:t> ООО «</a:t>
            </a:r>
            <a:r>
              <a:rPr lang="ru-RU" dirty="0" err="1"/>
              <a:t>ВсеИнструменты.ру</a:t>
            </a:r>
            <a:r>
              <a:rPr lang="ru-RU" dirty="0"/>
              <a:t>»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28794" y="50004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размещения отделов и секций в торговом зале, выкладки товара </a:t>
            </a:r>
            <a:endParaRPr lang="ru-RU" sz="2000" dirty="0"/>
          </a:p>
        </p:txBody>
      </p:sp>
      <p:pic>
        <p:nvPicPr>
          <p:cNvPr id="1026" name="Picture 2" descr="Планировщик леруа мерлен: 61 фото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3844825" cy="269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051720" y="1207928"/>
            <a:ext cx="422738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4005064"/>
            <a:ext cx="86409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  <a:r>
              <a:rPr lang="ru-RU" dirty="0"/>
              <a:t>В гипермаркете "</a:t>
            </a:r>
            <a:r>
              <a:rPr lang="ru-RU" dirty="0" err="1"/>
              <a:t>Лемана</a:t>
            </a:r>
            <a:r>
              <a:rPr lang="ru-RU" dirty="0"/>
              <a:t> ПРО" на входе в отделы находятся PAC (фр. </a:t>
            </a:r>
            <a:r>
              <a:rPr lang="ru-RU" dirty="0" err="1"/>
              <a:t>Le</a:t>
            </a:r>
            <a:r>
              <a:rPr lang="ru-RU" dirty="0"/>
              <a:t> </a:t>
            </a:r>
            <a:r>
              <a:rPr lang="ru-RU" dirty="0" err="1"/>
              <a:t>plan</a:t>
            </a:r>
            <a:r>
              <a:rPr lang="ru-RU" dirty="0"/>
              <a:t> </a:t>
            </a:r>
            <a:r>
              <a:rPr lang="ru-RU" dirty="0" err="1"/>
              <a:t>d`action</a:t>
            </a:r>
            <a:r>
              <a:rPr lang="ru-RU" dirty="0"/>
              <a:t> </a:t>
            </a:r>
            <a:r>
              <a:rPr lang="ru-RU" dirty="0" err="1"/>
              <a:t>commercial</a:t>
            </a:r>
            <a:r>
              <a:rPr lang="ru-RU" dirty="0"/>
              <a:t>) — коммерческие зоны планирования ассортимента. Они созданы согласно принципам зонирования магазина и позволяют покупателям видеть самые популярные и стратегически важные товары каждого отдела "</a:t>
            </a:r>
            <a:r>
              <a:rPr lang="ru-RU" dirty="0" err="1"/>
              <a:t>Лемана</a:t>
            </a:r>
            <a:r>
              <a:rPr lang="ru-RU" dirty="0"/>
              <a:t> ПРО", а также знакомят их с новым ассортиментом. Продажи этой продукции вносят значительный вклад в общий объем оборота товаров "</a:t>
            </a:r>
            <a:r>
              <a:rPr lang="ru-RU" dirty="0" err="1"/>
              <a:t>Лемана</a:t>
            </a:r>
            <a:r>
              <a:rPr lang="ru-RU" dirty="0"/>
              <a:t> ПРО".</a:t>
            </a:r>
            <a:br>
              <a:rPr lang="ru-RU" dirty="0"/>
            </a:br>
            <a:r>
              <a:rPr lang="en-US" dirty="0"/>
              <a:t>-</a:t>
            </a:r>
            <a:r>
              <a:rPr lang="ru-RU" dirty="0"/>
              <a:t>Выкладка визуально привлекательна и функциональной. Самые ходовые позиции </a:t>
            </a:r>
            <a:r>
              <a:rPr lang="ru-RU" dirty="0" err="1"/>
              <a:t>располагаються</a:t>
            </a:r>
            <a:r>
              <a:rPr lang="ru-RU" dirty="0"/>
              <a:t> в «золотой зоне» — на уровне глаз.</a:t>
            </a:r>
            <a:br>
              <a:rPr lang="ru-RU" dirty="0"/>
            </a:br>
            <a:r>
              <a:rPr lang="en-US" dirty="0"/>
              <a:t>-</a:t>
            </a:r>
            <a:r>
              <a:rPr lang="ru-RU" dirty="0"/>
              <a:t>В торговом зале достаточно </a:t>
            </a:r>
            <a:r>
              <a:rPr lang="en-US" dirty="0"/>
              <a:t>POS</a:t>
            </a:r>
            <a:r>
              <a:rPr lang="ru-RU" dirty="0"/>
              <a:t> </a:t>
            </a:r>
            <a:r>
              <a:rPr lang="ru-RU" dirty="0" err="1"/>
              <a:t>матерьялов</a:t>
            </a:r>
            <a:r>
              <a:rPr lang="ru-RU" dirty="0"/>
              <a:t> таких как Промо стенды, Стопперы, Реклама на тележке, Подвесной баннер, Диспенсер и другие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торгово-технологического процесса магазина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«ЛЕ МОНЛИД»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131840" y="1417638"/>
            <a:ext cx="2880320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Поступление транспортных средств  и разгрузки товаров  </a:t>
            </a:r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135437" y="1988840"/>
            <a:ext cx="2880320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Приемка товаров по количеству и качеству  </a:t>
            </a:r>
            <a:endParaRPr lang="ru-RU" sz="1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128062" y="2571449"/>
            <a:ext cx="2880320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Доставка товаров  </a:t>
            </a:r>
            <a:endParaRPr lang="ru-RU" sz="1400" dirty="0"/>
          </a:p>
        </p:txBody>
      </p:sp>
      <p:cxnSp>
        <p:nvCxnSpPr>
          <p:cNvPr id="11" name="Прямая со стрелкой 10"/>
          <p:cNvCxnSpPr>
            <a:stCxn id="5" idx="2"/>
            <a:endCxn id="8" idx="0"/>
          </p:cNvCxnSpPr>
          <p:nvPr/>
        </p:nvCxnSpPr>
        <p:spPr>
          <a:xfrm>
            <a:off x="4572000" y="1844824"/>
            <a:ext cx="3597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4566423" y="2407068"/>
            <a:ext cx="3597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611560" y="3346058"/>
            <a:ext cx="1656184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 зону подготовки к продаже  </a:t>
            </a:r>
            <a:endParaRPr lang="ru-RU" sz="1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611560" y="3907074"/>
            <a:ext cx="1800200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Отбор и подготовка товаров к продаже  </a:t>
            </a:r>
            <a:endParaRPr lang="ru-RU" sz="14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16714" y="4482255"/>
            <a:ext cx="1861899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Освобождение товаров от упаковки  </a:t>
            </a:r>
            <a:endParaRPr lang="ru-RU" sz="14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16526" y="5071108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Отправка товаров в торговый зал  </a:t>
            </a:r>
            <a:endParaRPr lang="ru-RU" sz="14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3740634" y="3313750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 торговой зал  </a:t>
            </a:r>
            <a:endParaRPr lang="ru-RU" sz="14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3514790" y="3877300"/>
            <a:ext cx="2103266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Выкладка товар на рабочем месте продавца  </a:t>
            </a:r>
            <a:endParaRPr lang="ru-RU" sz="14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3620407" y="4465482"/>
            <a:ext cx="1940522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Выбор и отбор товаров покупателя  </a:t>
            </a:r>
            <a:endParaRPr lang="ru-RU" sz="14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3702185" y="5053664"/>
            <a:ext cx="1743225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Расчет за отобранные товары  </a:t>
            </a:r>
            <a:endParaRPr lang="ru-RU" sz="140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3764879" y="5661248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Оказание услуг покупателям  </a:t>
            </a:r>
            <a:endParaRPr lang="ru-RU" sz="14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7174066" y="3305430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 места складирования  </a:t>
            </a:r>
            <a:endParaRPr lang="ru-RU" sz="14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7174066" y="3861048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Складирование товаров  </a:t>
            </a:r>
            <a:endParaRPr lang="ru-RU" sz="14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7174066" y="4463842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Хранение товаров  </a:t>
            </a:r>
            <a:endParaRPr lang="ru-RU" sz="14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174066" y="5030419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Подготовка товаров к продаже  </a:t>
            </a:r>
            <a:endParaRPr lang="ru-RU" sz="1400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7174066" y="5591904"/>
            <a:ext cx="1651578" cy="427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Отправка в торговый зал  </a:t>
            </a:r>
            <a:endParaRPr lang="ru-RU" sz="1400" dirty="0"/>
          </a:p>
        </p:txBody>
      </p:sp>
      <p:cxnSp>
        <p:nvCxnSpPr>
          <p:cNvPr id="53" name="Прямая соединительная линия 52"/>
          <p:cNvCxnSpPr>
            <a:stCxn id="9" idx="2"/>
            <a:endCxn id="18" idx="0"/>
          </p:cNvCxnSpPr>
          <p:nvPr/>
        </p:nvCxnSpPr>
        <p:spPr>
          <a:xfrm flipH="1">
            <a:off x="4566423" y="2998635"/>
            <a:ext cx="1799" cy="315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9" idx="2"/>
            <a:endCxn id="13" idx="0"/>
          </p:cNvCxnSpPr>
          <p:nvPr/>
        </p:nvCxnSpPr>
        <p:spPr>
          <a:xfrm flipH="1">
            <a:off x="1439652" y="2998635"/>
            <a:ext cx="3128570" cy="347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stCxn id="9" idx="2"/>
            <a:endCxn id="23" idx="0"/>
          </p:cNvCxnSpPr>
          <p:nvPr/>
        </p:nvCxnSpPr>
        <p:spPr>
          <a:xfrm>
            <a:off x="4568222" y="2998635"/>
            <a:ext cx="3431633" cy="306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4" idx="0"/>
          </p:cNvCxnSpPr>
          <p:nvPr/>
        </p:nvCxnSpPr>
        <p:spPr>
          <a:xfrm>
            <a:off x="1439652" y="3789040"/>
            <a:ext cx="72008" cy="118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>
            <a:stCxn id="14" idx="2"/>
            <a:endCxn id="16" idx="0"/>
          </p:cNvCxnSpPr>
          <p:nvPr/>
        </p:nvCxnSpPr>
        <p:spPr>
          <a:xfrm>
            <a:off x="1511660" y="4334260"/>
            <a:ext cx="36004" cy="147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6" idx="2"/>
            <a:endCxn id="17" idx="0"/>
          </p:cNvCxnSpPr>
          <p:nvPr/>
        </p:nvCxnSpPr>
        <p:spPr>
          <a:xfrm flipH="1">
            <a:off x="1442315" y="4909441"/>
            <a:ext cx="105349" cy="161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stCxn id="17" idx="3"/>
            <a:endCxn id="19" idx="1"/>
          </p:cNvCxnSpPr>
          <p:nvPr/>
        </p:nvCxnSpPr>
        <p:spPr>
          <a:xfrm flipV="1">
            <a:off x="2268104" y="4090893"/>
            <a:ext cx="1246686" cy="1193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stCxn id="27" idx="1"/>
            <a:endCxn id="19" idx="3"/>
          </p:cNvCxnSpPr>
          <p:nvPr/>
        </p:nvCxnSpPr>
        <p:spPr>
          <a:xfrm flipH="1" flipV="1">
            <a:off x="5618056" y="4090893"/>
            <a:ext cx="1556010" cy="171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23" idx="2"/>
          </p:cNvCxnSpPr>
          <p:nvPr/>
        </p:nvCxnSpPr>
        <p:spPr>
          <a:xfrm>
            <a:off x="7999855" y="3732616"/>
            <a:ext cx="0" cy="128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>
            <a:stCxn id="24" idx="2"/>
            <a:endCxn id="25" idx="0"/>
          </p:cNvCxnSpPr>
          <p:nvPr/>
        </p:nvCxnSpPr>
        <p:spPr>
          <a:xfrm>
            <a:off x="7999855" y="4288234"/>
            <a:ext cx="0" cy="175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>
            <a:stCxn id="25" idx="2"/>
            <a:endCxn id="26" idx="0"/>
          </p:cNvCxnSpPr>
          <p:nvPr/>
        </p:nvCxnSpPr>
        <p:spPr>
          <a:xfrm>
            <a:off x="7999855" y="4891028"/>
            <a:ext cx="0" cy="139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>
            <a:stCxn id="26" idx="2"/>
            <a:endCxn id="27" idx="0"/>
          </p:cNvCxnSpPr>
          <p:nvPr/>
        </p:nvCxnSpPr>
        <p:spPr>
          <a:xfrm>
            <a:off x="7999855" y="5457605"/>
            <a:ext cx="0" cy="134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" y="1052830"/>
            <a:ext cx="1506220" cy="177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 по совершенствованию выкладки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усиления этих моментов важно:.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57200" y="2420888"/>
          <a:ext cx="8229600" cy="26771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815881">
                <a:tc>
                  <a:txBody>
                    <a:bodyPr/>
                    <a:lstStyle/>
                    <a:p>
                      <a:r>
                        <a:rPr lang="ru-RU" sz="1500"/>
                        <a:t>Параметр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Эффективные решения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Ошибки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</a:tr>
              <a:tr h="543282">
                <a:tc>
                  <a:txBody>
                    <a:bodyPr/>
                    <a:lstStyle/>
                    <a:p>
                      <a:r>
                        <a:rPr lang="ru-RU" sz="1500"/>
                        <a:t>Уровень размещения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Глаза — зона премиума, руки — зона импульсивных решений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Низкие полки для новинок или незнакомых брендов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</a:tr>
              <a:tr h="774740">
                <a:tc>
                  <a:txBody>
                    <a:bodyPr/>
                    <a:lstStyle/>
                    <a:p>
                      <a:r>
                        <a:rPr lang="ru-RU" sz="1500"/>
                        <a:t>Цвет упаковки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Соответствие категории (синий — чистота, зелёный — эко и натуральность)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Слишком кричащая палитра без учёта потребительских ассоциаций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</a:tr>
              <a:tr h="543282">
                <a:tc>
                  <a:txBody>
                    <a:bodyPr/>
                    <a:lstStyle/>
                    <a:p>
                      <a:r>
                        <a:rPr lang="ru-RU" sz="1500"/>
                        <a:t>Форма упаковки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Удобство удержания, узнаваемый силуэт</a:t>
                      </a:r>
                      <a:endParaRPr lang="ru-RU" sz="150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Сложная форма, нарушающая логику выкладки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реализации концепции бережливого производства определены возможные виды потерь магазина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«ЛЕ МОНЛИД» </a:t>
            </a:r>
            <a:endParaRPr lang="ru-RU" sz="20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57200" y="2981176"/>
          <a:ext cx="8229600" cy="3393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455841">
                <a:tc>
                  <a:txBody>
                    <a:bodyPr/>
                    <a:lstStyle/>
                    <a:p>
                      <a:r>
                        <a:rPr lang="ru-RU" sz="1500" dirty="0"/>
                        <a:t>Возможные виды потерь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Мероприятия по устранению 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Эффект от внедрения концепции бережливого производства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  <a:tr h="543282">
                <a:tc>
                  <a:txBody>
                    <a:bodyPr/>
                    <a:lstStyle/>
                    <a:p>
                      <a:r>
                        <a:rPr lang="ru-RU" sz="1500" dirty="0"/>
                        <a:t>Дефекты  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Соблюдать стандарты приемки, систематически Проводить инструктажи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Снижение потерь от брака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  <a:tr h="774740">
                <a:tc>
                  <a:txBody>
                    <a:bodyPr/>
                    <a:lstStyle/>
                    <a:p>
                      <a:r>
                        <a:rPr lang="ru-RU" sz="1500" dirty="0"/>
                        <a:t>Лишние запасы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Периодически проводить </a:t>
                      </a:r>
                      <a:r>
                        <a:rPr lang="en-US" sz="1500" dirty="0"/>
                        <a:t>ABC|XYZ </a:t>
                      </a:r>
                      <a:r>
                        <a:rPr lang="ru-RU" sz="1500" dirty="0"/>
                        <a:t>анализ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Снижение запасов на 10-15% и освобождение нового места на складах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  <a:tr h="543282">
                <a:tc>
                  <a:txBody>
                    <a:bodyPr/>
                    <a:lstStyle/>
                    <a:p>
                      <a:r>
                        <a:rPr lang="ru-RU" sz="1500" dirty="0"/>
                        <a:t>Ожидание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Электронная </a:t>
                      </a:r>
                      <a:r>
                        <a:rPr lang="ru-RU" sz="1500" dirty="0" err="1"/>
                        <a:t>очередт</a:t>
                      </a:r>
                      <a:r>
                        <a:rPr lang="ru-RU" sz="1500" dirty="0"/>
                        <a:t> консультантов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Рост удовлетворённости клиентов 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  <a:tr h="543282">
                <a:tc>
                  <a:txBody>
                    <a:bodyPr/>
                    <a:lstStyle/>
                    <a:p>
                      <a:r>
                        <a:rPr lang="ru-RU" sz="1500" dirty="0"/>
                        <a:t>Бой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Улучшить контроль за хранением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Уменьшение потерь товаров</a:t>
                      </a:r>
                      <a:endParaRPr lang="ru-RU" sz="1500" dirty="0"/>
                    </a:p>
                  </a:txBody>
                  <a:tcPr marL="40184" marR="40184" marT="40184" marB="40184" anchor="ctr"/>
                </a:tc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6" y="1515829"/>
            <a:ext cx="1530825" cy="1377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951948"/>
          </a:xfrm>
        </p:spPr>
        <p:txBody>
          <a:bodyPr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действий менеджера по продажам при выкладке товаров для предотвращения возникновения максимальных потерь в РТП 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Следовать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планограмме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Выкладке товаров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 чтоб Выкладка в отделе оформлена в соответствии со стандартами, товар стоял лицевой стороной к покупателю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Следить чтоб Ценники имели формат, предназначенный для отдела, ценники в норме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 чтоб плато имело ровные ряды с одинаковым уровнем торгового оборудования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 чтоб на территории отдела было чисто, мусор отсутствовал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 чтоб Место размещения отдела было оформлено в соответствии со стандартами (баннеры, навигация 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4531</Words>
  <Application>WPS Presentation</Application>
  <PresentationFormat>Экран (4:3)</PresentationFormat>
  <Paragraphs>145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Тема Office</vt:lpstr>
      <vt:lpstr>Модуль Б. Организация торгово-технологических процессов в розничном торговом предприятии и анализ основных экономических показателей его деятельности </vt:lpstr>
      <vt:lpstr>пояснительная записка Характеристика магазина «Лемана Про» ООО «ЛЕ МОНДЛИД»</vt:lpstr>
      <vt:lpstr>Согласно ГОСТ Р 51773-2009. Услуги торговли. Классификация предприятий торговли</vt:lpstr>
      <vt:lpstr>Конкуренты магазина «Лемана ПРО»  ООО «ЛЕ МОНЛИД» </vt:lpstr>
      <vt:lpstr>PowerPoint 演示文稿</vt:lpstr>
      <vt:lpstr>Схема торгово-технологического процесса магазина  Лемана ПРО   ООО «ЛЕ МОНЛИД»</vt:lpstr>
      <vt:lpstr>Рекомендации по совершенствованию выкладки</vt:lpstr>
      <vt:lpstr>В рамках реализации концепции бережливого производства определены возможные виды потерь магазина  Лемана ПРО   ООО «ЛЕ МОНЛИД» </vt:lpstr>
      <vt:lpstr>Инструкция действий менеджера по продажам при выкладке товаров для предотвращения возникновения максимальных потерь в РТП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Б. Организация торгово-технологических процессов в розничном торговом предприятии и анализ основных экономических показателей его деятельности </dc:title>
  <dc:creator>2st20403</dc:creator>
  <cp:lastModifiedBy>levau</cp:lastModifiedBy>
  <cp:revision>19</cp:revision>
  <dcterms:created xsi:type="dcterms:W3CDTF">2026-02-05T06:09:00Z</dcterms:created>
  <dcterms:modified xsi:type="dcterms:W3CDTF">2026-02-14T13:10:48Z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603B4864B909496DBDB2EBCB3FD05004_12</vt:lpwstr>
  </property>
  <property fmtid="{D5CDD505-2E9C-101B-9397-08002B2CF9AE}" pid="3" name="KSOProductBuildVer">
    <vt:lpwstr>1049-12.2.0.23149</vt:lpwstr>
  </property>
</Properties>
</file>